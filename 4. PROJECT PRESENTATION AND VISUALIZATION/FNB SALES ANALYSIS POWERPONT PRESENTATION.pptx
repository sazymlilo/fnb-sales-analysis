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</c:v>
                </c:pt>
              </c:strCache>
            </c:strRef>
          </c:tx>
          <c:spPr>
            <a:solidFill>
              <a:srgbClr val="B23A3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A2A-4CEA-B437-A5A2EFD63B5C}"/>
              </c:ext>
            </c:extLst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A2A-4CEA-B437-A5A2EFD63B5C}"/>
              </c:ext>
            </c:extLst>
          </c:dPt>
          <c:dPt>
            <c:idx val="2"/>
            <c:invertIfNegative val="0"/>
            <c:bubble3D val="0"/>
            <c:spPr>
              <a:solidFill>
                <a:srgbClr val="8FA3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A2A-4CEA-B437-A5A2EFD63B5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1F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Unit cost</c:v>
                </c:pt>
                <c:pt idx="1">
                  <c:v>Realized price</c:v>
                </c:pt>
                <c:pt idx="2">
                  <c:v>List price (avg)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36.75</c:v>
                </c:pt>
                <c:pt idx="1">
                  <c:v>35.4</c:v>
                </c:pt>
                <c:pt idx="2">
                  <c:v>37.07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A2A-4CEA-B437-A5A2EFD63B5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30"/>
        </c:scaling>
        <c:delete val="0"/>
        <c:axPos val="l"/>
        <c:majorGridlines>
          <c:spPr>
            <a:ln w="12700" cap="flat">
              <a:solidFill>
                <a:srgbClr val="E3E7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Profit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CF4-4003-8F79-C487F576E0C7}"/>
              </c:ext>
            </c:extLst>
          </c:dPt>
          <c:dPt>
            <c:idx val="1"/>
            <c:invertIfNegative val="0"/>
            <c:bubble3D val="0"/>
            <c:spPr>
              <a:solidFill>
                <a:srgbClr val="B23A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CF4-4003-8F79-C487F576E0C7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B1F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Simple average
of daily GP%</c:v>
                </c:pt>
                <c:pt idx="1">
                  <c:v>Revenue-weighted
aggregate GP%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-0.9</c:v>
                </c:pt>
                <c:pt idx="1">
                  <c:v>-3.81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CF4-4003-8F79-C487F576E0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-5"/>
        </c:scaling>
        <c:delete val="0"/>
        <c:axPos val="l"/>
        <c:majorGridlines>
          <c:spPr>
            <a:ln w="12700" cap="flat">
              <a:solidFill>
                <a:srgbClr val="E3E7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Elasticity</c:v>
                </c:pt>
              </c:strCache>
            </c:strRef>
          </c:tx>
          <c:spPr>
            <a:solidFill>
              <a:srgbClr val="B23A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1F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-17.09</c:v>
                </c:pt>
                <c:pt idx="1">
                  <c:v>-12.55</c:v>
                </c:pt>
                <c:pt idx="2">
                  <c:v>-9.5299999999999994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EF-4BA7-8F01-B1912DF4247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Pre-promo profit</c:v>
                </c:pt>
              </c:strCache>
            </c:strRef>
          </c:tx>
          <c:spPr>
            <a:solidFill>
              <a:srgbClr val="8FA3E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5043</c:v>
                </c:pt>
                <c:pt idx="1">
                  <c:v>5508</c:v>
                </c:pt>
                <c:pt idx="2">
                  <c:v>7497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54-42C7-A45F-F89AFD9A95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Promo profit</c:v>
                </c:pt>
              </c:strCache>
            </c:strRef>
          </c:tx>
          <c:spPr>
            <a:solidFill>
              <a:srgbClr val="E77C7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-14458</c:v>
                </c:pt>
                <c:pt idx="1">
                  <c:v>-10003</c:v>
                </c:pt>
                <c:pt idx="2">
                  <c:v>-15897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354-42C7-A45F-F89AFD9A95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6407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CADCF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daily sales ($k)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1F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155</c:v>
                </c:pt>
                <c:pt idx="1">
                  <c:v>140</c:v>
                </c:pt>
                <c:pt idx="2">
                  <c:v>145</c:v>
                </c:pt>
                <c:pt idx="3">
                  <c:v>140</c:v>
                </c:pt>
                <c:pt idx="4">
                  <c:v>245</c:v>
                </c:pt>
                <c:pt idx="5">
                  <c:v>270</c:v>
                </c:pt>
                <c:pt idx="6">
                  <c:v>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A7-4349-81B7-37A8A9AD2F4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1716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103120"/>
            <a:ext cx="5943600" cy="59436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4206240"/>
            <a:ext cx="3840480" cy="3840480"/>
          </a:xfrm>
          <a:prstGeom prst="ellipse">
            <a:avLst/>
          </a:prstGeom>
          <a:solidFill>
            <a:srgbClr val="2A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Economics, Promotion Elasticity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 Path Back to Profitable Growth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sales, margin and pricing analysis  ·  30 Dec 2013 – 16 Nov 2016  ·  1,053 trading days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212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$186.9M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57424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49040" y="5212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-$7.1M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749040" y="57424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5212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-13.06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858000" y="57424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Elasticity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856232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$186,909,828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260604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163824" y="160020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28416" y="1856232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2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-$7,116,281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28416" y="260604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Gross Profit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70448" y="160020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856232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$177,502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035040" y="260604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Daily Sales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577072" y="160020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41664" y="1856232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2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-3.8%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741664" y="260604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Gross Profit %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" y="3913632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$35.40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1792" y="466344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Revenue-Weighted Unit Price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163824" y="365760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28416" y="3913632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$36.75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328416" y="466344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Unit Cost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870448" y="365760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035040" y="3913632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-13.06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035040" y="466344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Promotion Elasticity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577072" y="365760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741664" y="3913632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41x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8741664" y="466344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Peak-to-Trough Daily Sales Range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number is a negative aggregate margin — but as the following pages show, that loss is concentrated in promotional pricing, not the core business.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Review  •  30 Dec 2013 – 16 Nov 2016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1, 2 &amp;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Economics: Price, Cost &amp; Profit per Unit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6949440" cy="1207008"/>
          </a:xfrm>
          <a:prstGeom prst="roundRect">
            <a:avLst>
              <a:gd name="adj" fmla="val 5303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46504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$37.07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560320" y="1728216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unit sales price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average of the daily selling price — treats every trading day equally.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6949440" cy="1207008"/>
          </a:xfrm>
          <a:prstGeom prst="roundRect">
            <a:avLst>
              <a:gd name="adj" fmla="val 5303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118104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$35.40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60320" y="3099816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sales price per unit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÷ total units sold — the price actually realized once volume is weighted in.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343400"/>
            <a:ext cx="6949440" cy="1207008"/>
          </a:xfrm>
          <a:prstGeom prst="roundRect">
            <a:avLst>
              <a:gd name="adj" fmla="val 5303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489704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2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-$1.35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60320" y="4471416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gross profit per unit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 price ($35.40) minus average unit cost ($36.75) — sold below cost, on average.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35240" y="1600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vs. Cost per Unit ($)</a:t>
            </a:r>
            <a:endParaRPr lang="en-US" sz="13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7635240" y="1965960"/>
          <a:ext cx="41148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 12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realized price sits below the simple daily average — the busiest volume days skew toward lower prices, exactly where units are sold at a loss.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Review  •  30 Dec 2013 – 16 Nov 2016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vs. Aggregate Gross Profit %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00200"/>
          <a:ext cx="51206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600200"/>
            <a:ext cx="6035040" cy="4023360"/>
          </a:xfrm>
          <a:prstGeom prst="roundRect">
            <a:avLst>
              <a:gd name="adj" fmla="val 1818"/>
            </a:avLst>
          </a:prstGeom>
          <a:solidFill>
            <a:srgbClr val="F4F6FC"/>
          </a:solidFill>
          <a:ln/>
        </p:spPr>
      </p:sp>
      <p:sp>
        <p:nvSpPr>
          <p:cNvPr id="6" name="Text 3"/>
          <p:cNvSpPr/>
          <p:nvPr/>
        </p:nvSpPr>
        <p:spPr>
          <a:xfrm>
            <a:off x="598932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two numbers differ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89320" y="228600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-0.9% 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average of each day's own margin % — treating a $20k day the same as an $800k day.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-3.8% 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total gross profit ÷ total sales — it weights every dollar of revenue equally.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means high-volume days are disproportionately unprofitable: as sales climb, margin gets worse, not better — a classic signature of unprofitable discounting.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Review  •  30 Dec 2013 – 16 Nov 2016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5A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Elasticity Across Three Promotions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4552" cy="15544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cut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lift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Jun 2016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$42.04 → $33.39 (-20.6%)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953 → 4,305 (+351.7%)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-17.09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Aug 2016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$42.07 → $33.93 (-19.4%)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1,035 → 3,549 (+242.9%)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Jan 2016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$41.12 → $33.42 (-18.7%)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1,715 → 4,776 (+178.5%)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337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~1% cut in price drove roughly 10–17% more units sold — well beyond unit elasticity, and consistent with the sharp volume ramp seen below $35 in the price/volume chart.</a:t>
            </a:r>
            <a:endParaRPr lang="en-US" sz="1250" dirty="0"/>
          </a:p>
        </p:txBody>
      </p:sp>
      <p:sp>
        <p:nvSpPr>
          <p:cNvPr id="4" name="Text 3"/>
          <p:cNvSpPr/>
          <p:nvPr/>
        </p:nvSpPr>
        <p:spPr>
          <a:xfrm>
            <a:off x="45720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by Period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4343400"/>
          <a:ext cx="548640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6309360" y="3977640"/>
            <a:ext cx="5394960" cy="2514600"/>
          </a:xfrm>
          <a:prstGeom prst="roundRect">
            <a:avLst>
              <a:gd name="adj" fmla="val 2909"/>
            </a:avLst>
          </a:prstGeom>
          <a:solidFill>
            <a:srgbClr val="F4F6FC"/>
          </a:solidFill>
          <a:ln/>
        </p:spPr>
      </p:sp>
      <p:sp>
        <p:nvSpPr>
          <p:cNvPr id="9" name="Text 5"/>
          <p:cNvSpPr/>
          <p:nvPr/>
        </p:nvSpPr>
        <p:spPr>
          <a:xfrm>
            <a:off x="6537960" y="42062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elasticity: -13.06
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here is highly elastic — a 20% price cut consistently lifts volume 3-4x. That makes discounting a powerful volume lever, but says nothing yet about whether it's a profitable one (next page).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Review  •  30 Dec 2013 – 16 Nov 2016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5B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Promotions Help or Hurt Profit?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45920"/>
          <a:ext cx="67665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955280" y="1645920"/>
            <a:ext cx="3794760" cy="4114800"/>
          </a:xfrm>
          <a:prstGeom prst="roundRect">
            <a:avLst>
              <a:gd name="adj" fmla="val 1928"/>
            </a:avLst>
          </a:prstGeom>
          <a:solidFill>
            <a:srgbClr val="273580"/>
          </a:solidFill>
          <a:ln/>
        </p:spPr>
      </p:sp>
      <p:sp>
        <p:nvSpPr>
          <p:cNvPr id="6" name="Text 3"/>
          <p:cNvSpPr/>
          <p:nvPr/>
        </p:nvSpPr>
        <p:spPr>
          <a:xfrm>
            <a:off x="8183880" y="18745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view: worse.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183880" y="237744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average unit cost of $36.75, every promotion period we examined flips from a healthy double-digit margin at list price to an estimated five-figure loss at the promo price. Volume roughly tripled or quadrupled, but each extra unit was sold below cost — so the promotion made the loss bigger, not smaller.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183880" y="48920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using average unit cost as a proxy — actual per-period cost was not broken out in the source data.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Review  •  30 Dec 2013 – 16 Nov 2016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6A · ADDITIONAL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Patterns: When &amp; At What Price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Daily Sales by Weekday ($000s, approx.)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920240"/>
          <a:ext cx="539496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537960" y="155448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</p:spPr>
      </p:sp>
      <p:sp>
        <p:nvSpPr>
          <p:cNvPr id="7" name="Text 4"/>
          <p:cNvSpPr/>
          <p:nvPr/>
        </p:nvSpPr>
        <p:spPr>
          <a:xfrm>
            <a:off x="6766560" y="1783080"/>
            <a:ext cx="4709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peak
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and Saturday deliver the strongest average daily revenue of the week — roughly 60-90% above the midweek low. Staffing, inventory and promotions all have more leverage if concentrated here.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537960" y="3886200"/>
            <a:ext cx="5166360" cy="1783080"/>
          </a:xfrm>
          <a:prstGeom prst="roundRect">
            <a:avLst>
              <a:gd name="adj" fmla="val 4103"/>
            </a:avLst>
          </a:prstGeom>
          <a:solidFill>
            <a:srgbClr val="F4F6FC"/>
          </a:solidFill>
          <a:ln/>
        </p:spPr>
      </p:sp>
      <p:sp>
        <p:nvSpPr>
          <p:cNvPr id="9" name="Text 6"/>
          <p:cNvSpPr/>
          <p:nvPr/>
        </p:nvSpPr>
        <p:spPr>
          <a:xfrm>
            <a:off x="6766560" y="4114800"/>
            <a:ext cx="4709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~$35 tipping point
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price/volume scatter shows quantity sold rising sharply once unit price drops below roughly $35 — almost exactly the average unit cost of $36.75. Below that line, volume grows but profitability does not.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Review  •  30 Dec 2013 – 16 Nov 2016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Moves to Turn Volume Into Profit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promo price floor above cost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233172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discount depth so promo price stays above the ~$36.75 unit cost, or at minimum above breakeven after redemption costs — the current ~20% cuts land $3-4 under cost.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78040" y="178308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Renegotiate cost of goods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78040" y="233172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 ($36.75) sits above the everyday realized price ($35.40). Shaving even $1-2/unit off COGS turns most non-promo days profitable outright.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4069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402336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promotions around volume, not discount depth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457200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is strong enough (-9.5 to -17) that smaller cuts (10-12%) likely still drive large volume gains — model the profit-maximizing discount rather than defaulting to ~20%.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8404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4069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78040" y="402336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promotional and marketing spend on Fri-Sat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78040" y="457200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days already carry the highest natural demand; layering incremental effort there compounds return rather than propping up slow midweek days.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Review  •  30 Dec 2013 – 16 Nov 2016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828800"/>
            <a:ext cx="5486400" cy="54864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46888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business is closer to profitable</a:t>
            </a:r>
            <a:endParaRPr lang="en-US" sz="3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 the headline number suggests.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the economics of promotional pricing — not chasing more volume — is the fastest path back to a positive margin.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Review  •  30 Dec 2013 – 16 Nov 2016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995</Words>
  <Application>Microsoft Office PowerPoint</Application>
  <PresentationFormat>Widescreen</PresentationFormat>
  <Paragraphs>131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Saziso Mlilo</cp:lastModifiedBy>
  <cp:revision>1</cp:revision>
  <dcterms:created xsi:type="dcterms:W3CDTF">2026-08-03T13:50:39Z</dcterms:created>
  <dcterms:modified xsi:type="dcterms:W3CDTF">2026-08-03T14:02:35Z</dcterms:modified>
</cp:coreProperties>
</file>